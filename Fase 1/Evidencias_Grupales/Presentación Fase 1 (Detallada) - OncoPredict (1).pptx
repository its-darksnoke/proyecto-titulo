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cFz7HESrf9vVAZeXinSQeskf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BB94B6-525B-4F52-BA62-853DCC59A7B2}">
  <a:tblStyle styleId="{1CBB94B6-525B-4F52-BA62-853DCC59A7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76d229577ecf5e8c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76d229577ecf5e8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9b33535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9b33535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1.png"/><Relationship Id="rId10" Type="http://schemas.openxmlformats.org/officeDocument/2006/relationships/image" Target="../media/image8.png"/><Relationship Id="rId12" Type="http://schemas.openxmlformats.org/officeDocument/2006/relationships/image" Target="../media/image23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595437" y="2493615"/>
            <a:ext cx="9001125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Fase 1: Proyecto </a:t>
            </a:r>
            <a:r>
              <a:rPr b="1" i="0" lang="en-US" sz="4875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OncoPredict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809750" y="3998565"/>
            <a:ext cx="8572500" cy="181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Diagnóstico Temprano de Cáncer mediante Machine Learning y Metodologías Ágiles</a:t>
            </a:r>
            <a:endParaRPr b="0" i="0" sz="1800" u="none" cap="none" strike="noStrike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Integrantes: </a:t>
            </a:r>
            <a:endParaRPr/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Giovani Muñoz</a:t>
            </a:r>
            <a:endParaRPr/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Anthony Alarcon</a:t>
            </a:r>
            <a:endParaRPr b="0" i="0" sz="1800" u="none" cap="none" strike="noStrike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Felipe Calhueque </a:t>
            </a:r>
            <a:endParaRPr b="0" i="0" sz="1800" u="none" cap="none" strike="noStrike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8086" y="141556"/>
            <a:ext cx="4016829" cy="98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704850" y="207359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809625" y="2071687"/>
            <a:ext cx="5048250" cy="85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 del Proyecto: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OncoPredict es un Sistema fundamentado en el análisis de datos clínicos para asistir en la detección temprana del cáncer.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04850" y="337435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09625" y="3372445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Relevancia Laboral: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integración de la salud digital (HealthTech) y la Inteligencia Artificial representa un área de altísima demanda y crecimiento.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704850" y="43856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09625" y="4383732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Aporte Tecnológico: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Optimiza los tiempos de respuesta médica mediante herramientas predictivas robustas, aportando un valor medible al cruce entre la informática y la salud.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Descripción y Relevancia del Proyecto APT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857250" y="1803499"/>
            <a:ext cx="10477500" cy="1156096"/>
          </a:xfrm>
          <a:prstGeom prst="roundRect">
            <a:avLst>
              <a:gd fmla="val 65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428750" y="1946374"/>
            <a:ext cx="9715500" cy="870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Ciclo de Vida y Calidad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57250" y="1803499"/>
            <a:ext cx="38100" cy="11560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57250" y="3102471"/>
            <a:ext cx="10477500" cy="1156096"/>
          </a:xfrm>
          <a:prstGeom prst="roundRect">
            <a:avLst>
              <a:gd fmla="val 65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428750" y="3245346"/>
            <a:ext cx="9715500" cy="870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Ingeniería de Requisitos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857250" y="3102471"/>
            <a:ext cx="38100" cy="11560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57250" y="4401442"/>
            <a:ext cx="10477500" cy="1415057"/>
          </a:xfrm>
          <a:prstGeom prst="roundRect">
            <a:avLst>
              <a:gd fmla="val 53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428750" y="4544317"/>
            <a:ext cx="9715500" cy="1129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Gestión de Proyectos en Contextos Ágiles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57250" y="4401442"/>
            <a:ext cx="38100" cy="141505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466850" y="2298799"/>
            <a:ext cx="96774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"Diseñar y generar soluciones de software innovadoras y de calidad, aplicando el ciclo de vida de éste, según las características del proyecto, las mejores prácticas de la industria y sus estándares de calidad."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466850" y="3597771"/>
            <a:ext cx="96774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"Diseñar y adaptar los procesos de ingeniería de requisitos, a través del uso de metodologías de vanguardia y estándares de la industria, para el desarrollo de soluciones TI complejas, innovadoras y de calidad."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466850" y="4896742"/>
            <a:ext cx="96774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"Evaluar y gestionar proyectos en su área de especialización profesional, durante todo el ciclo de vida, de acuerdo a buenas prácticas y utilizando metodologías y herramientas de software, para cumplir con los requerimientos de la organización en contextos tradicionales y ágiles."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0" y="2008286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5850" y="3307258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5850" y="460623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Competencias del Perfil de Egreso (Plan de Estudio)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1957"/>
            <a:ext cx="5286375" cy="4538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11957"/>
            <a:ext cx="5286375" cy="453881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849391" y="2579489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Intereses Profesionales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62025" y="3093839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62025" y="3303389"/>
            <a:ext cx="4505325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OncoPredict materializa mi fuerte interés en especializarme en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Ciencia de Datos y Machine Learning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Resolver problemas con impacto social real (HealthTech) sienta las bases para futuras implementaciones de arquitecturas de Big Data escalables en la industria.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6612016" y="2002482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Factibilidad en la Asignatura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724650" y="251683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858000" y="27282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6962775" y="2726382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Disponibilidad: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de datasets clínicos anonimizados y de acceso público, eliminando barreras de recolección física.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6858000" y="3739574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962775" y="3737669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Herramientas: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Desarrollo basado en lenguajes y librerías Open Source estándar (Python, Scikit-Learn).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858000" y="475086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6962775" y="4748956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Alcance Acotado: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Objetivo enfocado al entrenamiento y evaluación del modelo (Fase 1), sin requerir despliegues físicos en hospitales.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 &amp; 4. Intereses Profesionales y Factibilidad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923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09923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09923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35282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1302573" y="3305323"/>
            <a:ext cx="203025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Charter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19150" y="3819673"/>
            <a:ext cx="299724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documento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"Project Charter...docx"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 formalmente el alcance, las restricciones y los criterios de aceptación del modelo predictivo para el diagnóstico.</a:t>
            </a:r>
            <a:endParaRPr/>
          </a:p>
        </p:txBody>
      </p:sp>
      <p:pic>
        <p:nvPicPr>
          <p:cNvPr descr="image.png" id="154" name="Google Shape;1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35282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4905851" y="3305323"/>
            <a:ext cx="23802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Visión de 4 Pilares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597449" y="3819673"/>
            <a:ext cx="2997249" cy="85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proyecto se sostiene en: Precisión Clínica, Escalabilidad Técnica, Seguridad de Datos y Usabilidad.</a:t>
            </a:r>
            <a:endParaRPr/>
          </a:p>
        </p:txBody>
      </p:sp>
      <p:pic>
        <p:nvPicPr>
          <p:cNvPr descr="image.png" id="157" name="Google Shape;15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35282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8769161" y="3305323"/>
            <a:ext cx="22102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Claros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8375749" y="3819673"/>
            <a:ext cx="299724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Desarrollar, entrenar y evaluar un modelo de Machine Learning capaz de asistir el diagnóstico temprano, utilizando métricas disciplinarias (Accuracy, Precision, Recall).</a:t>
            </a:r>
            <a:endParaRPr/>
          </a:p>
        </p:txBody>
      </p:sp>
      <p:pic>
        <p:nvPicPr>
          <p:cNvPr descr="image.png" id="160" name="Google Shape;16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74812" y="251951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3112" y="251951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59987" y="2519511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Definición Estratégica y Objetivos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99" y="2139404"/>
            <a:ext cx="3492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242092" y="2066105"/>
            <a:ext cx="366717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Mental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329405" y="2572653"/>
            <a:ext cx="3492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"Mapa mental.pdf"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Lluvia de ideas estructurada para visualizar la arquitectura lógica del problema y las ramificaciones del diagnóstico oncológico.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4064049" y="2066106"/>
            <a:ext cx="366717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de Actores</a:t>
            </a:r>
            <a:endParaRPr b="0" i="0" sz="1950" u="none" cap="none" strike="noStrik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151363" y="2580456"/>
            <a:ext cx="3492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"Mapa de actores.pdf"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Identificación exhaustiva de stakeholders (médicos, pacientes, técnicos) para alinear requerimientos.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8128099" y="2066106"/>
            <a:ext cx="366717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de Impacto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8128099" y="2580456"/>
            <a:ext cx="3492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"Mapa de impacto.pdf"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Conexión entre los objetivos de negocio y el comportamiento de los actores, asegurando que el software aporte valor real.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Ingeniería de Requisitos: Fase Inicial (Artefactos)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962025" y="309398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724650" y="323864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714375" y="571500"/>
            <a:ext cx="11451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de actores </a:t>
            </a:r>
            <a:endParaRPr b="0" i="0" sz="3000" u="none" cap="none" strike="noStrik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606" y="1143459"/>
            <a:ext cx="4418788" cy="5203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962025" y="309398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724650" y="323864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714375" y="571500"/>
            <a:ext cx="11451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de impacto</a:t>
            </a:r>
            <a:endParaRPr b="0" i="0" sz="3000" u="none" cap="none" strike="noStrik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5473" y="1257431"/>
            <a:ext cx="9581053" cy="537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962025" y="309398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724650" y="323864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714375" y="571500"/>
            <a:ext cx="114514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 mental</a:t>
            </a:r>
            <a:endParaRPr b="0" i="0" sz="3000" u="none" cap="none" strike="noStrik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347154"/>
            <a:ext cx="4752975" cy="50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1347154"/>
            <a:ext cx="4752975" cy="506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9112"/>
            <a:ext cx="5286375" cy="3384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89112"/>
            <a:ext cx="5286375" cy="3384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849391" y="2579637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Historias de Usuario &amp; Mapping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962025" y="309398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962025" y="3303537"/>
            <a:ext cx="4505325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través de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"User story Mapping.pdf"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"Historias de Usuario_.docx"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desglosó la funcionalidad del sistema desde la perspectiva del usuario final. Esto permitió priorizar las características más críticas para el modelo predictivo, asegurando un desarrollo iterativo centrado en el valor.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6612016" y="2724298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 Backlog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724650" y="323864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6724650" y="3448198"/>
            <a:ext cx="4505325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documento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"Product Backlog y Planificacion de 12 Semanas...docx"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consolida todas las historias y tareas técnicas en una lista priorizada. Es el artefacto central que guiará el trabajo del equipo durante los próximos sprints.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Ingeniería de Requisitos: Fase Ágil (Artefactos)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6d229577ecf5e8c_0"/>
          <p:cNvSpPr txBox="1"/>
          <p:nvPr>
            <p:ph type="title"/>
          </p:nvPr>
        </p:nvSpPr>
        <p:spPr>
          <a:xfrm>
            <a:off x="0" y="0"/>
            <a:ext cx="4813500" cy="110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Story Mapping</a:t>
            </a:r>
            <a:endParaRPr/>
          </a:p>
        </p:txBody>
      </p:sp>
      <p:pic>
        <p:nvPicPr>
          <p:cNvPr id="229" name="Google Shape;229;g76d229577ecf5e8c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500" y="0"/>
            <a:ext cx="73785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03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 txBox="1"/>
          <p:nvPr/>
        </p:nvSpPr>
        <p:spPr>
          <a:xfrm>
            <a:off x="704850" y="193220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809625" y="1930300"/>
            <a:ext cx="50482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del Proyecto (Scrum):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Implementada para garantizar entregas iterativas. Según el archivo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"1.3.Squad y Responsabilidades.docx"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han definido los roles (Product Owner, Scrum Master, Developers), organizando el trabajo en Sprints.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704850" y="3522434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809625" y="3520529"/>
            <a:ext cx="50482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Técnico (CRISP-DM):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Metodología estándar mundial para Data Science. Asegura el rigor técnico abarcando: comprensión del negocio, entendimiento de datos, preparación, modelado, evaluación e implementación.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704850" y="482319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809625" y="4821287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Pertinencia: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Esta dualidad permite flexibilidad ante cambios (Scrum) sin perder el método científico requerido para tratar datos médicos (CRISP-DM).</a:t>
            </a:r>
            <a:endParaRPr/>
          </a:p>
        </p:txBody>
      </p:sp>
      <p:pic>
        <p:nvPicPr>
          <p:cNvPr descr="image.png" id="242" name="Google Shape;2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303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Metodología de Trabajo: Enfoque Híbrido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/>
          <p:nvPr/>
        </p:nvSpPr>
        <p:spPr>
          <a:xfrm>
            <a:off x="571500" y="4090987"/>
            <a:ext cx="11049000" cy="5715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507968" y="445293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Semanas 1-3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571500" y="4862512"/>
            <a:ext cx="254124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Configuración &amp; Análisis: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Setup del entorno, recopilación de datasets y Análisis Exploratorio (EDA). Base del Product Backlog.</a:t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3343888" y="1786383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Semanas 4-6</a:t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3407419" y="2195958"/>
            <a:ext cx="254124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Preparación de Datos: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Limpieza de ruido, imputación de valores nulos y Feature Engineering bajo el estándar CRISP-DM.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6179808" y="445293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Semanas 7-9</a:t>
            </a:r>
            <a:endParaRPr/>
          </a:p>
        </p:txBody>
      </p:sp>
      <p:sp>
        <p:nvSpPr>
          <p:cNvPr id="256" name="Google Shape;256;p12"/>
          <p:cNvSpPr txBox="1"/>
          <p:nvPr/>
        </p:nvSpPr>
        <p:spPr>
          <a:xfrm>
            <a:off x="6243339" y="4862512"/>
            <a:ext cx="254124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Modelamiento Inicial: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Entrenamiento de algoritmos Machine Learning. Ajuste de hiperparámetros y primeras pruebas.</a:t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9015728" y="1786383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Semanas 10-12</a:t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9079259" y="2195958"/>
            <a:ext cx="254124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Validación &amp; Cierre: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Evaluación técnica (matrices de confusión), empaquetado del código y documentación de resultados.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1718295" y="39957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554215" y="39957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390134" y="39957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10226054" y="3995737"/>
            <a:ext cx="247650" cy="2476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12. Cronograma y Plan de 12 Semanas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g3f9b335356b_0_0"/>
          <p:cNvGraphicFramePr/>
          <p:nvPr/>
        </p:nvGraphicFramePr>
        <p:xfrm>
          <a:off x="798825" y="127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{1CBB94B6-525B-4F52-BA62-853DCC59A7B2}</a:tableStyleId>
              </a:tblPr>
              <a:tblGrid>
                <a:gridCol w="1765725"/>
                <a:gridCol w="1765725"/>
                <a:gridCol w="1765725"/>
                <a:gridCol w="1765725"/>
                <a:gridCol w="1765725"/>
                <a:gridCol w="17657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ID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Historia de Usuario / Tarea Técnica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Criterios de Aceptación Clave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Sprint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</a:rPr>
                        <a:t>Est. (SP)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HU-12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Como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Backend Developer,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quiero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construir una API REST con FastAPI / Flask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para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servir predicciones individuales a partir del modelo serializado.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Endpoint /predict operativo con validación de tipos Pydantic, manejo de errores HTTP y tiempo de respuesta inferior a 800ms.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9B2C2C"/>
                          </a:solidFill>
                        </a:rPr>
                        <a:t>Must</a:t>
                      </a:r>
                      <a:endParaRPr b="1" sz="900">
                        <a:solidFill>
                          <a:srgbClr val="9B2C2C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Sprint 3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8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HU-13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Como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Backend Developer,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quiero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implementar un endpoint de inferencia por lotes (Batch)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para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clasificar archivos con múltiples registros de pacientes simultáneamente.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Endpoint /predict-batch que reciba un archivo CSV/JSON y retorne un archivo procesado con las probabilidades y etiquetas predichas.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C05621"/>
                          </a:solidFill>
                        </a:rPr>
                        <a:t>Should</a:t>
                      </a:r>
                      <a:endParaRPr b="1" sz="900">
                        <a:solidFill>
                          <a:srgbClr val="C05621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Sprint 4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5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HU-14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Como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Frontend Developer,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quiero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diseñar y construir una interfaz web (Streamlit / React) adaptada a personal clínico </a:t>
                      </a:r>
                      <a:r>
                        <a:rPr b="1" lang="en-US" sz="900">
                          <a:solidFill>
                            <a:srgbClr val="1A1A1A"/>
                          </a:solidFill>
                        </a:rPr>
                        <a:t>para</a:t>
                      </a: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 ingresar datos de triaje fácilmente.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Interfaz limpia con campos validados, diseño responsivo, sin tecnicismos informáticos y navegación guiada.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b="1" lang="en-US" sz="900">
                          <a:solidFill>
                            <a:srgbClr val="9B2C2C"/>
                          </a:solidFill>
                        </a:rPr>
                        <a:t>Must</a:t>
                      </a:r>
                      <a:endParaRPr b="1" sz="900">
                        <a:solidFill>
                          <a:srgbClr val="9B2C2C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Sprint 5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525"/>
                        </a:spcBef>
                        <a:spcAft>
                          <a:spcPts val="525"/>
                        </a:spcAft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</a:rPr>
                        <a:t>8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66675" marB="66675" marR="95250" marL="952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g3f9b335356b_0_0"/>
          <p:cNvSpPr txBox="1"/>
          <p:nvPr/>
        </p:nvSpPr>
        <p:spPr>
          <a:xfrm>
            <a:off x="628800" y="626400"/>
            <a:ext cx="773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0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BACKLOG</a:t>
            </a:r>
            <a:endParaRPr/>
          </a:p>
        </p:txBody>
      </p:sp>
      <p:sp>
        <p:nvSpPr>
          <p:cNvPr id="271" name="Google Shape;271;g3f9b335356b_0_0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7675"/>
            <a:ext cx="5286375" cy="3527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17675"/>
            <a:ext cx="5286375" cy="352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 txBox="1"/>
          <p:nvPr/>
        </p:nvSpPr>
        <p:spPr>
          <a:xfrm>
            <a:off x="849391" y="2508200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Recursos y Facilitadores</a:t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962025" y="3022550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6612016" y="2652861"/>
            <a:ext cx="473059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Obstaculizadores y Mitigación</a:t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724650" y="3167211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1095375" y="323400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1200150" y="3232100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Seguimiento: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utilizará la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"Hoja de calculo sin titulo.xlsx"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herramienta de control operativo y monitoreo del Backlog.</a:t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095375" y="424529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1200150" y="4243387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Facilitadores: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Documentación robusta ya generada (mapas, historias) y el uso de librerías Python estándar en la industria.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6858000" y="337866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6962775" y="3376761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Calidad de Datos: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mayor riesgo es el ruido o sesgo en el dataset clínico original.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6858000" y="410048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6962775" y="4098577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Mitigación: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ha asignado una holgura específica en las Semanas 4-6 (Preparación de datos) para garantizar una limpieza profunda antes de modelar.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7. Análisis Operativo del Plan de Trabajo</a:t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937" y="2071687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 txBox="1"/>
          <p:nvPr/>
        </p:nvSpPr>
        <p:spPr>
          <a:xfrm>
            <a:off x="6334125" y="2107257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¿Cómo demostraremos el éxito?</a:t>
            </a:r>
            <a:endParaRPr/>
          </a:p>
        </p:txBody>
      </p:sp>
      <p:pic>
        <p:nvPicPr>
          <p:cNvPr descr="image.png" id="300" name="Google Shape;3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137" y="2147887"/>
            <a:ext cx="34671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/>
          <p:nvPr/>
        </p:nvSpPr>
        <p:spPr>
          <a:xfrm>
            <a:off x="6467475" y="26235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6572250" y="2621607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Avance Ágil: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Completitud progresiva de la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Hoja de Cálculo (Backlog)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entregables funcionales al final de cada Sprint.</a:t>
            </a:r>
            <a:endParaRPr/>
          </a:p>
        </p:txBody>
      </p:sp>
      <p:sp>
        <p:nvSpPr>
          <p:cNvPr id="303" name="Google Shape;303;p14"/>
          <p:cNvSpPr txBox="1"/>
          <p:nvPr/>
        </p:nvSpPr>
        <p:spPr>
          <a:xfrm>
            <a:off x="6467475" y="334532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4" name="Google Shape;304;p14"/>
          <p:cNvSpPr txBox="1"/>
          <p:nvPr/>
        </p:nvSpPr>
        <p:spPr>
          <a:xfrm>
            <a:off x="6572250" y="3343423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Artefactos Técnicos: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Entrega de cuadernos de código (Jupyter Notebooks) debidamente comentados, reflejando las fases de limpieza y modelado.</a:t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6467475" y="435661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6572250" y="4354710"/>
            <a:ext cx="50482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Métricas de Precisión: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éxito del modelo OncoPredict se justificará matemáticamente mediante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Recall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(minimización de falsos negativos médicos) y la Matriz de Confusión final.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8. Evidencias de Logro del Proyecto APT</a:t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 txBox="1"/>
          <p:nvPr/>
        </p:nvSpPr>
        <p:spPr>
          <a:xfrm>
            <a:off x="295275" y="2559397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Preguntas y Comentarios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571500" y="3759547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Fase 1 - Proyecto APT: OncoPredict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